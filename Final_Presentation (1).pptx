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pipeline that takes scene descriptions, generates one video clip per scene using a pre-trained diffusion model(CogVideoX-2b), and stitches them together.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an engineering demo built ON TOP of WAN 2.1 — not a reimplementation.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contribution is the pipeline design, prompt engineering, and getting it working on free T4 hardware.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Stage 1 — Scene Prompts: the prompt is doing a lot of work. It encodes not just the subject but the cinematography — camera angle, lighting, depth of field, motion style. Writing a good prompt is extremely crucial for this pipeline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Stage 2 — Text Encoding: the T5 encoder converts the text prompt into a vector embedding. This vector is injected into the diffusion model at every denoising step via cross-attention — so the model is constantly being steered toward the text description throughout the entire generation process, not just at the start.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Stage 3 — Diffusion Loop: this is the core of the model. 25 denoising steps, each running a 3D Diffusion Transformer that attends across both spatial and temporal dimensions simultaneously. That joint attention is what makes it a video model — it understands motion across frames, not just pixels within a single frame. guidance_scale=6.0 controls how strongly the model follows the prompt vs. exploring freely.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Stage 4 — Varitional AutoEncoder decode and stitch: the VAE decodes the compressed latent frames back into RGB pixels. MoviePy then concatenates all clips into one MP4 — this runs entirely on CPU, no GPU needed. This is the step we run live during the demo.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3D DiT: your pipeline runs the diffusion loop across all frames jointly — that's the paper's architecture in action.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Text encoder: your scene prompts show conditioning working — camera angle in the prompt = camera angle in the video. ST-VAE: the VAE is the reason tiling and slicing are needed — it's doing heavy work decoding the compressed latents.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Same API: swapping to WAN 14B is one line. The pipeline was built for it.</a:t>
            </a:r>
            <a:endParaRPr/>
          </a:p>
        </p:txBody>
      </p:sp>
      <p:sp>
        <p:nvSpPr>
          <p:cNvPr id="133" name="Google Shape;13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Card 1: fine-grained subjects. Butterflies and insects require fine texture the 2B model can't render. This is a model scale issue, not a code issue.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Card 3: cross-scene consistency. Since each clip is generated independently, lighting shifts between scenes. A production system would need shared conditioning.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Card 4: prompt sensitivity. 'Extreme close-up macro' → abstract blur. This is the hidden cost of diffusion models.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Card 5: the POND5 watermark is a great talking point — it's training data contamination made visible.</a:t>
            </a:r>
            <a:endParaRPr/>
          </a:p>
        </p:txBody>
      </p:sp>
      <p:sp>
        <p:nvSpPr>
          <p:cNvPr id="168" name="Google Shape;1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b6d417b2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b6d417b2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 — User templates: the fix for the limitations slide. Instead of unconstrained prompts, give users a form with dropdowns. Bounds the problem space.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02 — LLM decomposition: this was actually built. Gemini integration was implemented, hit quota limits. The architecture already supports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03 — WAN 14B: the whole pipeline was designed around this. One line swap. The 2B model was a hardware workaround.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04 — Cross-scene consistency: the hardest problem. Needs shared latent conditioning or post-processing color grading. What separates a demo from a real tool.</a:t>
            </a:r>
            <a:endParaRPr/>
          </a:p>
        </p:txBody>
      </p:sp>
      <p:sp>
        <p:nvSpPr>
          <p:cNvPr id="196" name="Google Shape;196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b6d417b2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db6d417b2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db6d417b2a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db6d417b2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db6d417b2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db6d417b2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Both generated using CogVideoX-2b. The stitch runs live under a second with MoviePy,an open source python library no GPU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drive.google.com/file/d/1R4FEnJtcel0_VO2faAONsi3cF6iRjkVK/view" TargetMode="External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pkgY0uBat2tbFochB5Z5lIkbDf7RWejS/view" TargetMode="External"/><Relationship Id="rId4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drive.google.com/file/d/1ohqB_jkGo6RdrsDS0huz0ZyKJQBNd3vd/view" TargetMode="External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AqISs6yS2vL8Um3hbGkc8-smqSNeA-__/view" TargetMode="External"/><Relationship Id="rId4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320053" y="777250"/>
            <a:ext cx="109122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Storyboard-to-Video </a:t>
            </a:r>
            <a:r>
              <a:rPr b="1" lang="en-US" sz="5200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200">
              <a:solidFill>
                <a:srgbClr val="0D0D0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 flipH="1" rot="10800000">
            <a:off x="320050" y="2003471"/>
            <a:ext cx="8453400" cy="35400"/>
          </a:xfrm>
          <a:prstGeom prst="rect">
            <a:avLst/>
          </a:prstGeom>
          <a:solidFill>
            <a:srgbClr val="D4D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20056" y="2651750"/>
            <a:ext cx="11384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An engineering pipeline that turns structured scene descriptions into a stitched short film — using pre-trained video diffusion models</a:t>
            </a:r>
            <a:r>
              <a:rPr lang="en-US" sz="16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717934" y="3840443"/>
            <a:ext cx="3657600" cy="100590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63034" y="3840443"/>
            <a:ext cx="54900" cy="10059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779709" y="3977639"/>
            <a:ext cx="329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CogVideoX-2b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779709" y="4392407"/>
            <a:ext cx="3291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via HuggingFace Diffusers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8183879" y="3840480"/>
            <a:ext cx="3657600" cy="100584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183879" y="3840480"/>
            <a:ext cx="54864" cy="100584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8412480" y="3977639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MoviePy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412480" y="4370832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CPU-only stitching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320040" y="6309360"/>
            <a:ext cx="9144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Foundation Models Course  — </a:t>
            </a:r>
            <a:r>
              <a:rPr lang="en-US" sz="1100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Sinchana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320040" y="74980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320040" y="1463040"/>
            <a:ext cx="11521440" cy="27432"/>
          </a:xfrm>
          <a:prstGeom prst="rect">
            <a:avLst/>
          </a:prstGeom>
          <a:solidFill>
            <a:srgbClr val="D4D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320040" y="1645920"/>
            <a:ext cx="2743200" cy="237744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320040" y="1645920"/>
            <a:ext cx="27432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57200" y="175564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777240" y="17556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Scene Prompts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457200" y="2240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Python dict with title + cinematic prompt encoding camera, lighting, depth of field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3108960" y="26060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12" name="Google Shape;112;p14"/>
          <p:cNvSpPr/>
          <p:nvPr/>
        </p:nvSpPr>
        <p:spPr>
          <a:xfrm>
            <a:off x="3246120" y="1645920"/>
            <a:ext cx="2743200" cy="237744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3246120" y="1645920"/>
            <a:ext cx="27432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3383280" y="175564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3703320" y="17556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Text Encoding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3383280" y="2240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T5 encoder converts prompt to vector that conditions each denoising step via cross-attention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035040" y="26060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6172200" y="1645920"/>
            <a:ext cx="2743200" cy="237744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4"/>
          <p:cNvSpPr/>
          <p:nvPr/>
        </p:nvSpPr>
        <p:spPr>
          <a:xfrm>
            <a:off x="6172200" y="1645920"/>
            <a:ext cx="27432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 txBox="1"/>
          <p:nvPr/>
        </p:nvSpPr>
        <p:spPr>
          <a:xfrm>
            <a:off x="6309360" y="175564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6629400" y="17556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Diffusion Loop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309360" y="2240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25 steps, 3D DiT attends across space + time jointly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guidance_scale=6.0  |  num_frames=17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961120" y="260604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9098280" y="1645920"/>
            <a:ext cx="2743200" cy="237744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9098280" y="1645920"/>
            <a:ext cx="2743200" cy="73152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9235440" y="1755648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9555480" y="1755648"/>
            <a:ext cx="2148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VAE + Stitch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9235440" y="2240280"/>
            <a:ext cx="2514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VAE decodes latents to RGB frames</a:t>
            </a:r>
            <a:b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MoviePy concatenates on CPU — no GPU needed</a:t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320040" y="4206240"/>
            <a:ext cx="11521440" cy="27432"/>
          </a:xfrm>
          <a:prstGeom prst="rect">
            <a:avLst/>
          </a:prstGeom>
          <a:solidFill>
            <a:srgbClr val="D4D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5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320040" y="74980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Connection to WAN 2.1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20040" y="1463040"/>
            <a:ext cx="11521440" cy="27432"/>
          </a:xfrm>
          <a:prstGeom prst="rect">
            <a:avLst/>
          </a:prstGeom>
          <a:solidFill>
            <a:srgbClr val="D4D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320040" y="16002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This pipeline is not a reimplementation of WAN 2.1 —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320040" y="1993392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it is a practical demonstration of the paper's core ideas.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320040" y="2606040"/>
            <a:ext cx="5394960" cy="384048"/>
          </a:xfrm>
          <a:prstGeom prst="rect">
            <a:avLst/>
          </a:prstGeom>
          <a:solidFill>
            <a:srgbClr val="1D4E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502920" y="26700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WAN 2.1 Paper proposes...</a:t>
            </a: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6172200" y="2606040"/>
            <a:ext cx="5394960" cy="384048"/>
          </a:xfrm>
          <a:prstGeom prst="rect">
            <a:avLst/>
          </a:prstGeom>
          <a:solidFill>
            <a:srgbClr val="2727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6355080" y="26700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pipeline demonstrates...</a:t>
            </a: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6035040" y="2606040"/>
            <a:ext cx="27432" cy="3931920"/>
          </a:xfrm>
          <a:prstGeom prst="rect">
            <a:avLst/>
          </a:prstGeom>
          <a:solidFill>
            <a:srgbClr val="D4D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20040" y="3108960"/>
            <a:ext cx="5394960" cy="658368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475488" y="3145536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3D Diffusion Transformer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475488" y="34015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Joint spatial + temporal attention — not per-frame image generation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6172200" y="3108960"/>
            <a:ext cx="5394960" cy="658368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6327648" y="3200400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The diffusion loop attends across all 17 frames simultaneously, producing coherent motion</a:t>
            </a: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320040" y="3858768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 txBox="1"/>
          <p:nvPr/>
        </p:nvSpPr>
        <p:spPr>
          <a:xfrm>
            <a:off x="475488" y="3895344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UMT5-XXL text encoder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475488" y="4151376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Natural language conditioning via cross-attention at every denoising step</a:t>
            </a: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6172200" y="3858768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6327648" y="3950207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Scene prompts encode camera, lighting, DOF — all reflected in the generated clip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320040" y="4608576"/>
            <a:ext cx="5394960" cy="658368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475488" y="4645152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ST-VAE compression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475488" y="4901184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4x more efficient video compression than standard VAEs before diffusion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6172200" y="4608576"/>
            <a:ext cx="5394960" cy="658368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6327648" y="4700016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VAE decode is the memory bottleneck — tiling + slicing required on T4 to prevent OOM</a:t>
            </a: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320040" y="5358383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475488" y="5394959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D4ED8"/>
                </a:solidFill>
                <a:latin typeface="Calibri"/>
                <a:ea typeface="Calibri"/>
                <a:cs typeface="Calibri"/>
                <a:sym typeface="Calibri"/>
              </a:rPr>
              <a:t>Same Diffusers API</a:t>
            </a:r>
            <a:endParaRPr/>
          </a:p>
        </p:txBody>
      </p:sp>
      <p:sp>
        <p:nvSpPr>
          <p:cNvPr id="162" name="Google Shape;162;p15"/>
          <p:cNvSpPr txBox="1"/>
          <p:nvPr/>
        </p:nvSpPr>
        <p:spPr>
          <a:xfrm>
            <a:off x="475488" y="565099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WAN 2.1 ships with a standard HuggingFace pipeline interface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6172200" y="5358383"/>
            <a:ext cx="53949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 txBox="1"/>
          <p:nvPr/>
        </p:nvSpPr>
        <p:spPr>
          <a:xfrm>
            <a:off x="6327648" y="5449823"/>
            <a:ext cx="5074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Swapping CogVideoX-2b for WAN 2.1 14B is one line of code — the pipeline is model-agnostic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320040" y="74980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/>
          </a:p>
        </p:txBody>
      </p:sp>
      <p:sp>
        <p:nvSpPr>
          <p:cNvPr id="172" name="Google Shape;172;p16"/>
          <p:cNvSpPr/>
          <p:nvPr/>
        </p:nvSpPr>
        <p:spPr>
          <a:xfrm>
            <a:off x="320040" y="1463040"/>
            <a:ext cx="11521440" cy="27432"/>
          </a:xfrm>
          <a:prstGeom prst="rect">
            <a:avLst/>
          </a:prstGeom>
          <a:solidFill>
            <a:srgbClr val="D4D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320040" y="1645920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548640" y="173736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Fine-grained subjects fail</a:t>
            </a: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548640" y="210312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Butterflies, bees, insects consistently degrade to flat color washes. The 2B model lacks capacity to render fine texture.</a:t>
            </a:r>
            <a:endParaRPr/>
          </a:p>
        </p:txBody>
      </p:sp>
      <p:sp>
        <p:nvSpPr>
          <p:cNvPr id="176" name="Google Shape;176;p16"/>
          <p:cNvSpPr/>
          <p:nvPr/>
        </p:nvSpPr>
        <p:spPr>
          <a:xfrm>
            <a:off x="6172200" y="1645920"/>
            <a:ext cx="54900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6400800" y="1737360"/>
            <a:ext cx="512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Training data artifacts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DC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6400800" y="2103120"/>
            <a:ext cx="5120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 hallucinated 'POND5' stock watermark — a direct artifact of watermarked training footage. Mitigated via negative prompt.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320040" y="3657600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548640" y="3749039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No cross-scene consistency</a:t>
            </a:r>
            <a:endParaRPr/>
          </a:p>
        </p:txBody>
      </p:sp>
      <p:sp>
        <p:nvSpPr>
          <p:cNvPr id="181" name="Google Shape;181;p16"/>
          <p:cNvSpPr txBox="1"/>
          <p:nvPr/>
        </p:nvSpPr>
        <p:spPr>
          <a:xfrm>
            <a:off x="548640" y="411480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clip is generated independently. Lighting and color can shift between scenes — no shared style conditioning.</a:t>
            </a:r>
            <a:endParaRPr/>
          </a:p>
        </p:txBody>
      </p:sp>
      <p:sp>
        <p:nvSpPr>
          <p:cNvPr id="182" name="Google Shape;182;p16"/>
          <p:cNvSpPr/>
          <p:nvPr/>
        </p:nvSpPr>
        <p:spPr>
          <a:xfrm>
            <a:off x="6172200" y="3657600"/>
            <a:ext cx="54864" cy="1600200"/>
          </a:xfrm>
          <a:prstGeom prst="rect">
            <a:avLst/>
          </a:prstGeom>
          <a:solidFill>
            <a:srgbClr val="DC26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 txBox="1"/>
          <p:nvPr/>
        </p:nvSpPr>
        <p:spPr>
          <a:xfrm>
            <a:off x="6400800" y="3749039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Prompt sensitivity</a:t>
            </a:r>
            <a:endParaRPr/>
          </a:p>
        </p:txBody>
      </p:sp>
      <p:sp>
        <p:nvSpPr>
          <p:cNvPr id="184" name="Google Shape;184;p16"/>
          <p:cNvSpPr txBox="1"/>
          <p:nvPr/>
        </p:nvSpPr>
        <p:spPr>
          <a:xfrm>
            <a:off x="6400800" y="4114800"/>
            <a:ext cx="51206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'Extreme close-up macro' caused the sunflower to become an abstract blur. Small wording changes produce large output changes.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17" title="Scene3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700" y="1978900"/>
            <a:ext cx="685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8357100" y="499700"/>
            <a:ext cx="3325500" cy="55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258475" y="344625"/>
            <a:ext cx="67002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 Generated Scenes: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7530025" y="585850"/>
            <a:ext cx="4273200" cy="59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Scene 2:The Butterfly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 colorful orange</a:t>
            </a:r>
            <a:r>
              <a:rPr b="1"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butterfly </a:t>
            </a: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perched on a pink flower, slowly opening and closing its wings. 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Soft green garden background, warm sunlight, gentle breeze moves the flower slightly. 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Medium close-up shot, shallow depth of field, soft bokeh background, slow motion, cinematic.    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320040" y="749808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320040" y="1463040"/>
            <a:ext cx="11521440" cy="27432"/>
          </a:xfrm>
          <a:prstGeom prst="rect">
            <a:avLst/>
          </a:prstGeom>
          <a:solidFill>
            <a:srgbClr val="D4D4D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20040" y="1691640"/>
            <a:ext cx="5577840" cy="219456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320040" y="1691640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548640" y="17830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548640" y="237744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User-defined</a:t>
            </a:r>
            <a:b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scene templates</a:t>
            </a:r>
            <a:endParaRPr/>
          </a:p>
        </p:txBody>
      </p:sp>
      <p:sp>
        <p:nvSpPr>
          <p:cNvPr id="205" name="Google Shape;205;p18"/>
          <p:cNvSpPr txBox="1"/>
          <p:nvPr/>
        </p:nvSpPr>
        <p:spPr>
          <a:xfrm>
            <a:off x="548640" y="2990088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Expose a structured form: subject, camera angle, lighting, mood. Constrains input to what the model handles reliably — turning prompt engineering into a UX problem.</a:t>
            </a: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6217920" y="1691640"/>
            <a:ext cx="5577840" cy="219456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217920" y="1691640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6446520" y="17830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09" name="Google Shape;209;p18"/>
          <p:cNvSpPr txBox="1"/>
          <p:nvPr/>
        </p:nvSpPr>
        <p:spPr>
          <a:xfrm>
            <a:off x="6446520" y="2377440"/>
            <a:ext cx="5029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LLM scene</a:t>
            </a:r>
            <a:b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decomposition</a:t>
            </a: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6446520" y="2990088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User types a one-line story. Gemini or GPT-4o breaks it into scene prompts automatically.</a:t>
            </a: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320040" y="4160520"/>
            <a:ext cx="5577840" cy="219456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320040" y="4160520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548640" y="425196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14" name="Google Shape;214;p18"/>
          <p:cNvSpPr txBox="1"/>
          <p:nvPr/>
        </p:nvSpPr>
        <p:spPr>
          <a:xfrm>
            <a:off x="548640" y="48463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WAN 2.1 14B</a:t>
            </a:r>
            <a:b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on A100</a:t>
            </a:r>
            <a:endParaRPr/>
          </a:p>
        </p:txBody>
      </p:sp>
      <p:sp>
        <p:nvSpPr>
          <p:cNvPr id="215" name="Google Shape;215;p18"/>
          <p:cNvSpPr txBox="1"/>
          <p:nvPr/>
        </p:nvSpPr>
        <p:spPr>
          <a:xfrm>
            <a:off x="548640" y="5458968"/>
            <a:ext cx="5120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Swapping CogVideoX-2b for WAN 14B . Would produce 720P output, stronger prompt adherence, and handle fine-grained subjects the 2B model fails on.</a:t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6217920" y="4160520"/>
            <a:ext cx="5577840" cy="2194560"/>
          </a:xfrm>
          <a:prstGeom prst="rect">
            <a:avLst/>
          </a:prstGeom>
          <a:solidFill>
            <a:srgbClr val="F4F4F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/>
          <p:nvPr/>
        </p:nvSpPr>
        <p:spPr>
          <a:xfrm>
            <a:off x="6217920" y="4160520"/>
            <a:ext cx="54864" cy="2194560"/>
          </a:xfrm>
          <a:prstGeom prst="rect">
            <a:avLst/>
          </a:prstGeom>
          <a:solidFill>
            <a:srgbClr val="05966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8"/>
          <p:cNvSpPr txBox="1"/>
          <p:nvPr/>
        </p:nvSpPr>
        <p:spPr>
          <a:xfrm>
            <a:off x="6446520" y="425196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D4D4D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19" name="Google Shape;219;p18"/>
          <p:cNvSpPr txBox="1"/>
          <p:nvPr/>
        </p:nvSpPr>
        <p:spPr>
          <a:xfrm>
            <a:off x="6446520" y="484632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Cross-scene</a:t>
            </a:r>
            <a:b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0D0D0D"/>
                </a:solidFill>
                <a:latin typeface="Calibri"/>
                <a:ea typeface="Calibri"/>
                <a:cs typeface="Calibri"/>
                <a:sym typeface="Calibri"/>
              </a:rPr>
              <a:t>consistency</a:t>
            </a:r>
            <a:endParaRPr/>
          </a:p>
        </p:txBody>
      </p:sp>
      <p:sp>
        <p:nvSpPr>
          <p:cNvPr id="220" name="Google Shape;220;p18"/>
          <p:cNvSpPr txBox="1"/>
          <p:nvPr/>
        </p:nvSpPr>
        <p:spPr>
          <a:xfrm>
            <a:off x="6446520" y="5458968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Shared style conditioning vector across all clips — same lighting, color grade, visual tone. Turns a sequence of independent shots into a coherent film.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"/>
          <p:cNvSpPr txBox="1"/>
          <p:nvPr/>
        </p:nvSpPr>
        <p:spPr>
          <a:xfrm>
            <a:off x="327400" y="310150"/>
            <a:ext cx="11389800" cy="8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 Generated Scenes: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9" title="scene1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341250"/>
            <a:ext cx="685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9"/>
          <p:cNvSpPr txBox="1"/>
          <p:nvPr/>
        </p:nvSpPr>
        <p:spPr>
          <a:xfrm>
            <a:off x="7736800" y="379075"/>
            <a:ext cx="3980400" cy="60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Scene 1:The Field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 field of bright red poppies and yellow wildflowers swaying gently in a warm breeze.          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Camera slowly pushes forward at ground level through the flowers. Clear blue sky, soft golden sunlight, green stems, vibrant colors.  </a:t>
            </a:r>
            <a:endParaRPr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Medium wide shot, slow dolly forward, cheerful spring atmosphere, cinematic</a:t>
            </a:r>
            <a:endParaRPr sz="3700">
              <a:solidFill>
                <a:schemeClr val="dk1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0" title="Scene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925" y="1961675"/>
            <a:ext cx="685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224000" y="241225"/>
            <a:ext cx="6771900" cy="14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Successfully Generated Scenes: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7840175" y="430775"/>
            <a:ext cx="3945900" cy="59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Scene 2:The Sunflower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 row of tall bright yellow sunflowers slowly swaying in a light breeze against a clear blue sky.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Camera gently pans left to right across the flowers.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Warm afternoon sunlight, petals glowing gold, green leaves. 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5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Medium shot, slow pan, peaceful and warm atmosphere, cinematic.</a:t>
            </a:r>
            <a:endParaRPr sz="135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1" title="final_vide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175" y="1978900"/>
            <a:ext cx="685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1"/>
          <p:cNvSpPr txBox="1"/>
          <p:nvPr/>
        </p:nvSpPr>
        <p:spPr>
          <a:xfrm>
            <a:off x="275700" y="258475"/>
            <a:ext cx="6771900" cy="14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Generated Scenes: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8305425" y="2860375"/>
            <a:ext cx="3291300" cy="32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